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" id="{19e73f31-330e-00bd-4979-e58f6f635b2c}">
          <p14:sldIdLst>
            <p14:sldId id="256"/>
            <p14:sldId id="257"/>
          </p14:sldIdLst>
        </p14:section>
        <p14:section name="Problem" id="{7e86fda7-3b77-a446-3328-54c67cee525a}">
          <p14:sldIdLst>
            <p14:sldId id="258"/>
            <p14:sldId id="259"/>
          </p14:sldIdLst>
        </p14:section>
        <p14:section name="Solution" id="{e1a7d1b2-9963-cf16-645e-0e39da57f08f}">
          <p14:sldIdLst>
            <p14:sldId id="260"/>
            <p14:sldId id="261"/>
          </p14:sldIdLst>
        </p14:section>
        <p14:section name="Live" id="{e3ff0a70-e4ed-0c1d-26f8-115a4f91cd6a}">
          <p14:sldIdLst>
            <p14:sldId id="262"/>
            <p14:sldId id="263"/>
          </p14:sldIdLst>
        </p14:section>
        <p14:section name="Demo" id="{c11643e6-7c45-ce76-da13-823335f2b88b}">
          <p14:sldIdLst>
            <p14:sldId id="264"/>
          </p14:sldIdLst>
        </p14:section>
        <p14:section name="Proof" id="{70a8c409-f7ab-6513-e8b2-55c2fef76731}">
          <p14:sldIdLst>
            <p14:sldId id="265"/>
            <p14:sldId id="266"/>
          </p14:sldIdLst>
        </p14:section>
        <p14:section name="Close" id="{808de920-6459-0419-608e-ccfb32ce902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F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F7A"/>
                </a:solidFill>
                <a:latin typeface="+mn-lt"/>
              </a:rPr>
              <a:t>Meeting rate by what happened on the call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Meeting rate %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2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9D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322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322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3222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Asked about the visit</c:v>
                  </c:pt>
                  <c:pt idx="1">
                    <c:v>Asked about price</c:v>
                  </c:pt>
                  <c:pt idx="2">
                    <c:v>All calls</c:v>
                  </c:pt>
                  <c:pt idx="3">
                    <c:v>Seller busy</c:v>
                  </c:pt>
                  <c:pt idx="4">
                    <c:v>Not interested</c:v>
                  </c:pt>
                  <c:pt idx="5">
                    <c:v>Seller confused</c:v>
                  </c:pt>
                  <c:pt idx="6">
                    <c:v>Over in 20 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62.6</c:v>
                </c:pt>
                <c:pt idx="1">
                  <c:v>19.6</c:v>
                </c:pt>
                <c:pt idx="2">
                  <c:v>11.2</c:v>
                </c:pt>
                <c:pt idx="3">
                  <c:v>5</c:v>
                </c:pt>
                <c:pt idx="4">
                  <c:v>3.8</c:v>
                </c:pt>
                <c:pt idx="5">
                  <c:v>2.6</c:v>
                </c:pt>
                <c:pt idx="6">
                  <c:v>0.04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1A1F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4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seller's journey: every big IndiaMART seller started with one phone call. Our work makes that first call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the IndiaMART growth story: small shop to warehouse. Point to step 1: VANI makes this call today, and that is where most journeys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the dataset. A busy or confused seller almost never books; a seller whose question gets answered (visit, price) books far more often. One script cannot do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C2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90"/>
                </a:solidFill>
              </a:rPr>
              <a:t>IndiaMART  ·  VANI Persona Engine  ·  PS04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90"/>
                </a:solidFill>
              </a:rPr>
              <a:t>IndiaMART  ·  VANI Persona Engine  ·  PS04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IndiaMART Voice AI Hackathon 2.0  ·  PS04 Persona Design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From the First Call to a Bigger Business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VANI Persona Engine: a voice, language and plan for every seller, backed by past calls and adapted live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Team: ______  ·  ______  ·  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big seller's journey starts with one call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step 1 circle"/>
          <p:cNvSpPr/>
          <p:nvPr/>
        </p:nvSpPr>
        <p:spPr>
          <a:xfrm>
            <a:off x="923544" y="1828800"/>
            <a:ext cx="731520" cy="73152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3222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Initial call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VANI calls and asks for a free meeting</a:t>
            </a:r>
            <a:endParaRPr lang="en-US" sz="1300" dirty="0"/>
          </a:p>
        </p:txBody>
      </p:sp>
      <p:sp>
        <p:nvSpPr>
          <p:cNvPr id="9" name="step 2"/>
          <p:cNvSpPr/>
          <p:nvPr/>
        </p:nvSpPr>
        <p:spPr>
          <a:xfrm>
            <a:off x="2139696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0" name="step 2 circle"/>
          <p:cNvSpPr/>
          <p:nvPr/>
        </p:nvSpPr>
        <p:spPr>
          <a:xfrm>
            <a:off x="2514600" y="1828800"/>
            <a:ext cx="731520" cy="73152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49424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98C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231136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Meeting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49424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Executive visits, shows real examples</a:t>
            </a:r>
            <a:endParaRPr lang="en-US" sz="1300" dirty="0"/>
          </a:p>
        </p:txBody>
      </p:sp>
      <p:sp>
        <p:nvSpPr>
          <p:cNvPr id="15" name="step 3"/>
          <p:cNvSpPr/>
          <p:nvPr/>
        </p:nvSpPr>
        <p:spPr>
          <a:xfrm>
            <a:off x="3730752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6" name="step 3 circle"/>
          <p:cNvSpPr/>
          <p:nvPr/>
        </p:nvSpPr>
        <p:spPr>
          <a:xfrm>
            <a:off x="4105656" y="182880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7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2011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4048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822192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Better listing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840480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Photos, prices, right category</a:t>
            </a:r>
            <a:endParaRPr lang="en-US" sz="1300" dirty="0"/>
          </a:p>
        </p:txBody>
      </p:sp>
      <p:sp>
        <p:nvSpPr>
          <p:cNvPr id="21" name="step 4"/>
          <p:cNvSpPr/>
          <p:nvPr/>
        </p:nvSpPr>
        <p:spPr>
          <a:xfrm>
            <a:off x="5321808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22" name="step 4 circle"/>
          <p:cNvSpPr/>
          <p:nvPr/>
        </p:nvSpPr>
        <p:spPr>
          <a:xfrm>
            <a:off x="5696712" y="1828800"/>
            <a:ext cx="731520" cy="731520"/>
          </a:xfrm>
          <a:prstGeom prst="ellipse">
            <a:avLst/>
          </a:prstGeom>
          <a:solidFill>
            <a:srgbClr val="F29D1F"/>
          </a:solidFill>
          <a:ln w="12700">
            <a:solidFill>
              <a:srgbClr val="F29D1F"/>
            </a:solidFill>
            <a:prstDash val="solid"/>
          </a:ln>
        </p:spPr>
      </p:sp>
      <p:pic>
        <p:nvPicPr>
          <p:cNvPr id="23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0116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31536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9D1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13248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More enquiries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31536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Right buyers find the seller</a:t>
            </a:r>
            <a:endParaRPr lang="en-US" sz="1300" dirty="0"/>
          </a:p>
        </p:txBody>
      </p:sp>
      <p:sp>
        <p:nvSpPr>
          <p:cNvPr id="27" name="step 5"/>
          <p:cNvSpPr/>
          <p:nvPr/>
        </p:nvSpPr>
        <p:spPr>
          <a:xfrm>
            <a:off x="6912864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28" name="step 5 circle"/>
          <p:cNvSpPr/>
          <p:nvPr/>
        </p:nvSpPr>
        <p:spPr>
          <a:xfrm>
            <a:off x="7287768" y="1828800"/>
            <a:ext cx="731520" cy="731520"/>
          </a:xfrm>
          <a:prstGeom prst="ellipse">
            <a:avLst/>
          </a:prstGeom>
          <a:solidFill>
            <a:srgbClr val="7B4FC9"/>
          </a:solidFill>
          <a:ln w="12700">
            <a:solidFill>
              <a:srgbClr val="7B4FC9"/>
            </a:solidFill>
            <a:prstDash val="solid"/>
          </a:ln>
        </p:spPr>
      </p:sp>
      <p:pic>
        <p:nvPicPr>
          <p:cNvPr id="29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20116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22592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4FC9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004304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Upgrade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022592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Higher listing, bigger reach</a:t>
            </a:r>
            <a:endParaRPr lang="en-US" sz="1300" dirty="0"/>
          </a:p>
        </p:txBody>
      </p:sp>
      <p:sp>
        <p:nvSpPr>
          <p:cNvPr id="33" name="step 6"/>
          <p:cNvSpPr/>
          <p:nvPr/>
        </p:nvSpPr>
        <p:spPr>
          <a:xfrm>
            <a:off x="8503920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34" name="step 6 circle"/>
          <p:cNvSpPr/>
          <p:nvPr/>
        </p:nvSpPr>
        <p:spPr>
          <a:xfrm>
            <a:off x="8878824" y="1828800"/>
            <a:ext cx="731520" cy="731520"/>
          </a:xfrm>
          <a:prstGeom prst="ellipse">
            <a:avLst/>
          </a:prstGeom>
          <a:solidFill>
            <a:srgbClr val="E04E8C"/>
          </a:solidFill>
          <a:ln w="12700">
            <a:solidFill>
              <a:srgbClr val="E04E8C"/>
            </a:solidFill>
            <a:prstDash val="solid"/>
          </a:ln>
        </p:spPr>
      </p:sp>
      <p:pic>
        <p:nvPicPr>
          <p:cNvPr id="35" name="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704" y="201168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613648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E8C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8595360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Warehouse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613648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More stock, more capacity</a:t>
            </a:r>
            <a:endParaRPr lang="en-US" sz="1300" dirty="0"/>
          </a:p>
        </p:txBody>
      </p:sp>
      <p:sp>
        <p:nvSpPr>
          <p:cNvPr id="39" name="step 7"/>
          <p:cNvSpPr/>
          <p:nvPr/>
        </p:nvSpPr>
        <p:spPr>
          <a:xfrm>
            <a:off x="10094976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0" name="step 7 circle"/>
          <p:cNvSpPr/>
          <p:nvPr/>
        </p:nvSpPr>
        <p:spPr>
          <a:xfrm>
            <a:off x="10469880" y="1828800"/>
            <a:ext cx="731520" cy="731520"/>
          </a:xfrm>
          <a:prstGeom prst="ellipse">
            <a:avLst/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</p:spPr>
      </p:sp>
      <p:pic>
        <p:nvPicPr>
          <p:cNvPr id="41" name="step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760" y="2011680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204704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F7A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10186416" y="27432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Pan-India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10204704" y="32004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Sells across India and beyond</a:t>
            </a:r>
            <a:endParaRPr lang="en-US" sz="1300" dirty="0"/>
          </a:p>
        </p:txBody>
      </p:sp>
      <p:sp>
        <p:nvSpPr>
          <p:cNvPr id="45" name="step 1 callout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6" name="Text 37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 1 decides whether the journey starts at all.  </a:t>
            </a:r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If the first call fails, the shop never gets its listing, its enquiries or its warehouse. That call is what we rebuilt.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Today, most first calls end before they start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46304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9,657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answered VANI calls analysed</a:t>
            </a:r>
            <a:endParaRPr lang="en-US" sz="1500" dirty="0"/>
          </a:p>
        </p:txBody>
      </p:sp>
      <p:sp>
        <p:nvSpPr>
          <p:cNvPr id="6" name="stat 2"/>
          <p:cNvSpPr/>
          <p:nvPr/>
        </p:nvSpPr>
        <p:spPr>
          <a:xfrm>
            <a:off x="548640" y="306324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1729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11.2%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fix a meeting</a:t>
            </a:r>
            <a:endParaRPr lang="en-US" sz="1500" dirty="0"/>
          </a:p>
        </p:txBody>
      </p:sp>
      <p:sp>
        <p:nvSpPr>
          <p:cNvPr id="9" name="stat 3"/>
          <p:cNvSpPr/>
          <p:nvPr/>
        </p:nvSpPr>
        <p:spPr>
          <a:xfrm>
            <a:off x="548640" y="466344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7731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46%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are over within 20 seconds</a:t>
            </a:r>
            <a:endParaRPr lang="en-US" sz="1500" dirty="0"/>
          </a:p>
        </p:txBody>
      </p:sp>
      <p:sp>
        <p:nvSpPr>
          <p:cNvPr id="12" name="chart card"/>
          <p:cNvSpPr/>
          <p:nvPr/>
        </p:nvSpPr>
        <p:spPr>
          <a:xfrm>
            <a:off x="5120640" y="1463040"/>
            <a:ext cx="6492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graphicFrame>
        <p:nvGraphicFramePr>
          <p:cNvPr id="13" name="Chart 0" descr=""/>
          <p:cNvGraphicFramePr/>
          <p:nvPr/>
        </p:nvGraphicFramePr>
        <p:xfrm>
          <a:off x="5303520" y="1600200"/>
          <a:ext cx="6126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script for every seller is the real problem</a:t>
            </a:r>
            <a:endParaRPr lang="en-US" sz="3400" dirty="0"/>
          </a:p>
        </p:txBody>
      </p:sp>
      <p:sp>
        <p:nvSpPr>
          <p:cNvPr id="3" name="today card"/>
          <p:cNvSpPr/>
          <p:nvPr/>
        </p:nvSpPr>
        <p:spPr>
          <a:xfrm>
            <a:off x="548640" y="146304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Today: every seller hears the same call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Same voice, same pace, same Hinglish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Same pitch whether the seller is busy, curious or annoyed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Same opening, even for a seller who asked for a call back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Misses the moment a seller changes language</a:t>
            </a:r>
            <a:endParaRPr lang="en-US" sz="1600" dirty="0"/>
          </a:p>
        </p:txBody>
      </p:sp>
      <p:sp>
        <p:nvSpPr>
          <p:cNvPr id="6" name="sellers card"/>
          <p:cNvSpPr/>
          <p:nvPr/>
        </p:nvSpPr>
        <p:spPr>
          <a:xfrm>
            <a:off x="6309360" y="146304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But sellers are not the same</a:t>
            </a:r>
            <a:endParaRPr lang="en-US" sz="2000" dirty="0"/>
          </a:p>
        </p:txBody>
      </p:sp>
      <p:sp>
        <p:nvSpPr>
          <p:cNvPr id="8" name="Language circle"/>
          <p:cNvSpPr/>
          <p:nvPr/>
        </p:nvSpPr>
        <p:spPr>
          <a:xfrm>
            <a:off x="6583680" y="2377440"/>
            <a:ext cx="594360" cy="59436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pic>
        <p:nvPicPr>
          <p:cNvPr id="9" name="Langua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2270" y="2526030"/>
            <a:ext cx="297180" cy="2971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60920" y="2377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Language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679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Hinglish, English, Gujarati, Tamil...</a:t>
            </a:r>
            <a:endParaRPr lang="en-US" sz="1400" dirty="0"/>
          </a:p>
        </p:txBody>
      </p:sp>
      <p:sp>
        <p:nvSpPr>
          <p:cNvPr id="12" name="Business circle"/>
          <p:cNvSpPr/>
          <p:nvPr/>
        </p:nvSpPr>
        <p:spPr>
          <a:xfrm>
            <a:off x="6583680" y="3246120"/>
            <a:ext cx="594360" cy="594360"/>
          </a:xfrm>
          <a:prstGeom prst="ellipse">
            <a:avLst/>
          </a:prstGeom>
          <a:solidFill>
            <a:srgbClr val="F29D1F"/>
          </a:solidFill>
          <a:ln w="12700">
            <a:solidFill>
              <a:srgbClr val="F29D1F"/>
            </a:solidFill>
            <a:prstDash val="solid"/>
          </a:ln>
        </p:spPr>
      </p:sp>
      <p:pic>
        <p:nvPicPr>
          <p:cNvPr id="13" name="Busine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33947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3246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Business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3547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Micro retailer to Rs 100 Cr manufacturer</a:t>
            </a:r>
            <a:endParaRPr lang="en-US" sz="1400" dirty="0"/>
          </a:p>
        </p:txBody>
      </p:sp>
      <p:sp>
        <p:nvSpPr>
          <p:cNvPr id="16" name="Time circle"/>
          <p:cNvSpPr/>
          <p:nvPr/>
        </p:nvSpPr>
        <p:spPr>
          <a:xfrm>
            <a:off x="6583680" y="4114800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7" name="Tim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42633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60920" y="4114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Time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360920" y="4416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Some are driving, some want details</a:t>
            </a:r>
            <a:endParaRPr lang="en-US" sz="1400" dirty="0"/>
          </a:p>
        </p:txBody>
      </p:sp>
      <p:sp>
        <p:nvSpPr>
          <p:cNvPr id="20" name="History circle"/>
          <p:cNvSpPr/>
          <p:nvPr/>
        </p:nvSpPr>
        <p:spPr>
          <a:xfrm>
            <a:off x="6583680" y="4983480"/>
            <a:ext cx="594360" cy="59436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pic>
        <p:nvPicPr>
          <p:cNvPr id="21" name="Histor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51320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983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History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52852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Asked for a callback, or said no last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VANI Persona Engine: a persona for every seller</a:t>
            </a:r>
            <a:endParaRPr lang="en-US" sz="3400" dirty="0"/>
          </a:p>
        </p:txBody>
      </p:sp>
      <p:sp>
        <p:nvSpPr>
          <p:cNvPr id="3" name="Voice"/>
          <p:cNvSpPr/>
          <p:nvPr/>
        </p:nvSpPr>
        <p:spPr>
          <a:xfrm>
            <a:off x="548640" y="14630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Voice circle"/>
          <p:cNvSpPr/>
          <p:nvPr/>
        </p:nvSpPr>
        <p:spPr>
          <a:xfrm>
            <a:off x="822960" y="1920240"/>
            <a:ext cx="868680" cy="86868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pic>
        <p:nvPicPr>
          <p:cNvPr id="5" name="Voi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1374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Voice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194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66"/>
                </a:solidFill>
              </a:rPr>
              <a:t>Payal or Arjun, the speaker, pace and expressiveness, set from the seller's history</a:t>
            </a:r>
            <a:endParaRPr lang="en-US" sz="1400" dirty="0"/>
          </a:p>
        </p:txBody>
      </p:sp>
      <p:sp>
        <p:nvSpPr>
          <p:cNvPr id="8" name="Language"/>
          <p:cNvSpPr/>
          <p:nvPr/>
        </p:nvSpPr>
        <p:spPr>
          <a:xfrm>
            <a:off x="6172200" y="14630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9" name="Language circle"/>
          <p:cNvSpPr/>
          <p:nvPr/>
        </p:nvSpPr>
        <p:spPr>
          <a:xfrm>
            <a:off x="6446520" y="1920240"/>
            <a:ext cx="868680" cy="86868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pic>
        <p:nvPicPr>
          <p:cNvPr id="10" name="Langua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13741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Language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194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66"/>
                </a:solidFill>
              </a:rPr>
              <a:t>Hinglish, English or Gujarati, formality, and how to address the seller</a:t>
            </a:r>
            <a:endParaRPr lang="en-US" sz="1400" dirty="0"/>
          </a:p>
        </p:txBody>
      </p:sp>
      <p:sp>
        <p:nvSpPr>
          <p:cNvPr id="13" name="Tone"/>
          <p:cNvSpPr/>
          <p:nvPr/>
        </p:nvSpPr>
        <p:spPr>
          <a:xfrm>
            <a:off x="548640" y="34290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4" name="Tone circle"/>
          <p:cNvSpPr/>
          <p:nvPr/>
        </p:nvSpPr>
        <p:spPr>
          <a:xfrm>
            <a:off x="822960" y="3886200"/>
            <a:ext cx="868680" cy="8686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5" name="Ton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10337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Tone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160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66"/>
                </a:solidFill>
              </a:rPr>
              <a:t>Warmth, empathy and how many words per turn</a:t>
            </a:r>
            <a:endParaRPr lang="en-US" sz="1400" dirty="0"/>
          </a:p>
        </p:txBody>
      </p:sp>
      <p:sp>
        <p:nvSpPr>
          <p:cNvPr id="18" name="Plan"/>
          <p:cNvSpPr/>
          <p:nvPr/>
        </p:nvSpPr>
        <p:spPr>
          <a:xfrm>
            <a:off x="6172200" y="34290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9" name="Plan circle"/>
          <p:cNvSpPr/>
          <p:nvPr/>
        </p:nvSpPr>
        <p:spPr>
          <a:xfrm>
            <a:off x="6446520" y="3886200"/>
            <a:ext cx="868680" cy="868680"/>
          </a:xfrm>
          <a:prstGeom prst="ellipse">
            <a:avLst/>
          </a:prstGeom>
          <a:solidFill>
            <a:srgbClr val="7B4FC9"/>
          </a:solidFill>
          <a:ln w="12700">
            <a:solidFill>
              <a:srgbClr val="7B4FC9"/>
            </a:solidFill>
            <a:prstDash val="solid"/>
          </a:ln>
        </p:spPr>
      </p:sp>
      <p:pic>
        <p:nvPicPr>
          <p:cNvPr id="20" name="Pla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10337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4160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66"/>
                </a:solidFill>
              </a:rPr>
              <a:t>An opening built from the last call, objection answers, and slots sellers actually accept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choice comes with its reason,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past-call evidence behind it, and a confidence level. Nothing is a black box.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eller data"/>
          <p:cNvSpPr/>
          <p:nvPr/>
        </p:nvSpPr>
        <p:spPr>
          <a:xfrm>
            <a:off x="54864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Seller data circle"/>
          <p:cNvSpPr/>
          <p:nvPr/>
        </p:nvSpPr>
        <p:spPr>
          <a:xfrm>
            <a:off x="1165860" y="1965960"/>
            <a:ext cx="777240" cy="77724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pic>
        <p:nvPicPr>
          <p:cNvPr id="5" name="Seller da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21602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8803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Seller data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37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5,000 profiles, 9,657 past calls, 4,920 transcript turns</a:t>
            </a:r>
            <a:endParaRPr lang="en-US" sz="1300" dirty="0"/>
          </a:p>
        </p:txBody>
      </p:sp>
      <p:sp>
        <p:nvSpPr>
          <p:cNvPr id="8" name="arrow 1"/>
          <p:cNvSpPr/>
          <p:nvPr/>
        </p:nvSpPr>
        <p:spPr>
          <a:xfrm>
            <a:off x="2587752" y="2971800"/>
            <a:ext cx="201168" cy="274320"/>
          </a:xfrm>
          <a:prstGeom prst="rightArrow">
            <a:avLst/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</p:spPr>
      </p:sp>
      <p:sp>
        <p:nvSpPr>
          <p:cNvPr id="9" name="Evidence"/>
          <p:cNvSpPr/>
          <p:nvPr/>
        </p:nvSpPr>
        <p:spPr>
          <a:xfrm>
            <a:off x="281178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0" name="Evidence circle"/>
          <p:cNvSpPr/>
          <p:nvPr/>
        </p:nvSpPr>
        <p:spPr>
          <a:xfrm>
            <a:off x="3429000" y="1965960"/>
            <a:ext cx="777240" cy="777240"/>
          </a:xfrm>
          <a:prstGeom prst="ellipse">
            <a:avLst/>
          </a:prstGeom>
          <a:solidFill>
            <a:srgbClr val="7B4FC9"/>
          </a:solidFill>
          <a:ln w="12700">
            <a:solidFill>
              <a:srgbClr val="7B4FC9"/>
            </a:solidFill>
            <a:prstDash val="solid"/>
          </a:ln>
        </p:spPr>
      </p:sp>
      <p:pic>
        <p:nvPicPr>
          <p:cNvPr id="11" name="Evidenc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2160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21508" y="28803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Evidence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948940" y="3337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140 findings, tested statistically before use</a:t>
            </a:r>
            <a:endParaRPr lang="en-US" sz="1300" dirty="0"/>
          </a:p>
        </p:txBody>
      </p:sp>
      <p:sp>
        <p:nvSpPr>
          <p:cNvPr id="14" name="arrow 2"/>
          <p:cNvSpPr/>
          <p:nvPr/>
        </p:nvSpPr>
        <p:spPr>
          <a:xfrm>
            <a:off x="4850892" y="2971800"/>
            <a:ext cx="201168" cy="274320"/>
          </a:xfrm>
          <a:prstGeom prst="rightArrow">
            <a:avLst/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</p:spPr>
      </p:sp>
      <p:sp>
        <p:nvSpPr>
          <p:cNvPr id="15" name="Persona"/>
          <p:cNvSpPr/>
          <p:nvPr/>
        </p:nvSpPr>
        <p:spPr>
          <a:xfrm>
            <a:off x="507492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6" name="Persona circle"/>
          <p:cNvSpPr/>
          <p:nvPr/>
        </p:nvSpPr>
        <p:spPr>
          <a:xfrm>
            <a:off x="5692140" y="196596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7" name="Person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21602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84648" y="28803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Persona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3337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Voice, language, tone, plan, with reasons</a:t>
            </a:r>
            <a:endParaRPr lang="en-US" sz="1300" dirty="0"/>
          </a:p>
        </p:txBody>
      </p:sp>
      <p:sp>
        <p:nvSpPr>
          <p:cNvPr id="20" name="arrow 3"/>
          <p:cNvSpPr/>
          <p:nvPr/>
        </p:nvSpPr>
        <p:spPr>
          <a:xfrm>
            <a:off x="7114032" y="2971800"/>
            <a:ext cx="201168" cy="274320"/>
          </a:xfrm>
          <a:prstGeom prst="rightArrow">
            <a:avLst/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</p:spPr>
      </p:sp>
      <p:sp>
        <p:nvSpPr>
          <p:cNvPr id="21" name="Live adapter"/>
          <p:cNvSpPr/>
          <p:nvPr/>
        </p:nvSpPr>
        <p:spPr>
          <a:xfrm>
            <a:off x="733806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22" name="Live adapter circle"/>
          <p:cNvSpPr/>
          <p:nvPr/>
        </p:nvSpPr>
        <p:spPr>
          <a:xfrm>
            <a:off x="7955280" y="1965960"/>
            <a:ext cx="777240" cy="777240"/>
          </a:xfrm>
          <a:prstGeom prst="ellipse">
            <a:avLst/>
          </a:prstGeom>
          <a:solidFill>
            <a:srgbClr val="F29D1F"/>
          </a:solidFill>
          <a:ln w="12700">
            <a:solidFill>
              <a:srgbClr val="F29D1F"/>
            </a:solidFill>
            <a:prstDash val="solid"/>
          </a:ln>
        </p:spPr>
      </p:sp>
      <p:pic>
        <p:nvPicPr>
          <p:cNvPr id="23" name="Live adapt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590" y="216027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47788" y="28803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Live adapter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475220" y="3337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Reads every seller turn, switches the persona</a:t>
            </a:r>
            <a:endParaRPr lang="en-US" sz="1300" dirty="0"/>
          </a:p>
        </p:txBody>
      </p:sp>
      <p:sp>
        <p:nvSpPr>
          <p:cNvPr id="26" name="arrow 4"/>
          <p:cNvSpPr/>
          <p:nvPr/>
        </p:nvSpPr>
        <p:spPr>
          <a:xfrm>
            <a:off x="9377172" y="2971800"/>
            <a:ext cx="201168" cy="274320"/>
          </a:xfrm>
          <a:prstGeom prst="rightArrow">
            <a:avLst/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</p:spPr>
      </p:sp>
      <p:sp>
        <p:nvSpPr>
          <p:cNvPr id="27" name="Sarvam"/>
          <p:cNvSpPr/>
          <p:nvPr/>
        </p:nvSpPr>
        <p:spPr>
          <a:xfrm>
            <a:off x="9601200" y="173736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28" name="Sarvam circle"/>
          <p:cNvSpPr/>
          <p:nvPr/>
        </p:nvSpPr>
        <p:spPr>
          <a:xfrm>
            <a:off x="10218420" y="1965960"/>
            <a:ext cx="777240" cy="77724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pic>
        <p:nvPicPr>
          <p:cNvPr id="29" name="Sarvam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2730" y="2160270"/>
            <a:ext cx="388620" cy="3886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10928" y="28803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Sarvam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738360" y="3337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Saaras listens, the Sarvam LLM understands, Bulbul speaks</a:t>
            </a:r>
            <a:endParaRPr lang="en-US" sz="1300" dirty="0"/>
          </a:p>
        </p:txBody>
      </p:sp>
      <p:sp>
        <p:nvSpPr>
          <p:cNvPr id="32" name="safety card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33" name="safety circle"/>
          <p:cNvSpPr/>
          <p:nvPr/>
        </p:nvSpPr>
        <p:spPr>
          <a:xfrm>
            <a:off x="777240" y="5029200"/>
            <a:ext cx="822960" cy="8229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34" name="safet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5234940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78308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Safe by design.  </a:t>
            </a:r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Hard rules run under the LLM: do-not-call always ends the call, a meeting is booked only on a clear yes with a day and time, and if the LLM fails the call carries on with rules and tested lines.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It listens, and changes in the middle of the call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seller...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 changes to...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busy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 1.05x, one real benefit, two time slots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means fewer words, not faster 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irritated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1.0x, a sincere sorry, never books the meeting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an annoyed seller is a lost seller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confused or says 'slow down'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0.85x, simpler words, one idea per sentence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sellers book only 2.6% of the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Hinglish, English or Gujarati from that 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seller's language beats our 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for a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and slower, books a real senior callback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a trust test: say yes, don't argue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curious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first, asks for the meeting later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 who ask about the visit book 62.6%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speaks fast or slow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their measured speed (median 2.6 words/s)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from the voice, not guessed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Every switch is logged live: signal, what changed, and why.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Sounds human, stays honest</a:t>
            </a:r>
            <a:endParaRPr lang="en-US" sz="3400" dirty="0"/>
          </a:p>
        </p:txBody>
      </p:sp>
      <p:sp>
        <p:nvSpPr>
          <p:cNvPr id="3" name="Real benefits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Real benefits circle"/>
          <p:cNvSpPr/>
          <p:nvPr/>
        </p:nvSpPr>
        <p:spPr>
          <a:xfrm>
            <a:off x="822960" y="169164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5" name="Real benefi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Real benefits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"Top sellers in your category get 9+ enquiries in three months; you got 2. A better listing closes that gap."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Numbers come from the data. Nothing is invented.</a:t>
            </a:r>
            <a:endParaRPr lang="en-US" sz="1300" dirty="0"/>
          </a:p>
        </p:txBody>
      </p:sp>
      <p:sp>
        <p:nvSpPr>
          <p:cNvPr id="9" name="Honest identity"/>
          <p:cNvSpPr/>
          <p:nvPr/>
        </p:nvSpPr>
        <p:spPr>
          <a:xfrm>
            <a:off x="429768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0" name="Honest identity circle"/>
          <p:cNvSpPr/>
          <p:nvPr/>
        </p:nvSpPr>
        <p:spPr>
          <a:xfrm>
            <a:off x="4572000" y="1691640"/>
            <a:ext cx="777240" cy="77724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pic>
        <p:nvPicPr>
          <p:cNvPr id="11" name="Honest identit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8859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Honest identity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"Ji, main IndiaMART se Arjun bol raha hoon."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If asked, it says it is an AI assistant, in one warm line. It never claims to be human.</a:t>
            </a:r>
            <a:endParaRPr lang="en-US" sz="1300" dirty="0"/>
          </a:p>
        </p:txBody>
      </p:sp>
      <p:sp>
        <p:nvSpPr>
          <p:cNvPr id="15" name="Respect for the seller"/>
          <p:cNvSpPr/>
          <p:nvPr/>
        </p:nvSpPr>
        <p:spPr>
          <a:xfrm>
            <a:off x="804672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6" name="Respect for the seller circle"/>
          <p:cNvSpPr/>
          <p:nvPr/>
        </p:nvSpPr>
        <p:spPr>
          <a:xfrm>
            <a:off x="8321040" y="1691640"/>
            <a:ext cx="777240" cy="77724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pic>
        <p:nvPicPr>
          <p:cNvPr id="17" name="Respect for the sell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88595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Respect for the seller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"Achha sawaal hai ji", "Maafi chahti hoon"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526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66"/>
                </a:solidFill>
              </a:rPr>
              <a:t>Do-not-call ends the call. Their time beats ours: slots at 11-12 and 2-5 PM, learned from 1,078 meetings.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Demo: three sellers, three personas</a:t>
            </a:r>
            <a:endParaRPr lang="en-US" sz="3400" dirty="0"/>
          </a:p>
        </p:txBody>
      </p:sp>
      <p:sp>
        <p:nvSpPr>
          <p:cNvPr id="3" name="demo 1"/>
          <p:cNvSpPr/>
          <p:nvPr/>
        </p:nvSpPr>
        <p:spPr>
          <a:xfrm>
            <a:off x="54864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demo 1 badg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Quick · Hinglish · busy trader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090"/>
                </a:solidFill>
              </a:rPr>
              <a:t>North India, often cuts calls short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One-breath opening, 1.05x, benefit first, two slots</a:t>
            </a:r>
            <a:endParaRPr lang="en-US" sz="1600" dirty="0"/>
          </a:p>
        </p:txBody>
      </p:sp>
      <p:sp>
        <p:nvSpPr>
          <p:cNvPr id="9" name="demo 2"/>
          <p:cNvSpPr/>
          <p:nvPr/>
        </p:nvSpPr>
        <p:spPr>
          <a:xfrm>
            <a:off x="429768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0" name="demo 2 badge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Patient · English · Chennai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090"/>
                </a:solidFill>
              </a:rPr>
              <a:t>Tamil Nadu, no Hindi on past calls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Simple English, 0.9x. Switches to Hinglish the moment the seller does</a:t>
            </a:r>
            <a:endParaRPr lang="en-US" sz="1600" dirty="0"/>
          </a:p>
        </p:txBody>
      </p:sp>
      <p:sp>
        <p:nvSpPr>
          <p:cNvPr id="15" name="demo 3"/>
          <p:cNvSpPr/>
          <p:nvPr/>
        </p:nvSpPr>
        <p:spPr>
          <a:xfrm>
            <a:off x="8046720" y="14630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6" name="demo 3 badge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Welcome · Gujarati · new seller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7090"/>
                </a:solidFill>
              </a:rPr>
              <a:t>Surat, joined after the data snapshot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"Kem cho", a welcome opening, then a live switch to Gujarati with Gujarati slots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Live on Sarvam: Saaras speech-to-text, the Sarvam LLM, Bulbul voices. Same scenario, three different calls.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Built and tested end to end</a:t>
            </a:r>
            <a:endParaRPr lang="en-US" sz="3400" dirty="0"/>
          </a:p>
        </p:txBody>
      </p:sp>
      <p:sp>
        <p:nvSpPr>
          <p:cNvPr id="3" name="proof 1"/>
          <p:cNvSpPr/>
          <p:nvPr/>
        </p:nvSpPr>
        <p:spPr>
          <a:xfrm>
            <a:off x="548640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355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automated tests pass</a:t>
            </a:r>
            <a:endParaRPr lang="en-US" sz="1500" dirty="0"/>
          </a:p>
        </p:txBody>
      </p:sp>
      <p:sp>
        <p:nvSpPr>
          <p:cNvPr id="6" name="proof 2"/>
          <p:cNvSpPr/>
          <p:nvPr/>
        </p:nvSpPr>
        <p:spPr>
          <a:xfrm>
            <a:off x="3360420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8902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17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8902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browser scenarios, every switch</a:t>
            </a:r>
            <a:endParaRPr lang="en-US" sz="1500" dirty="0"/>
          </a:p>
        </p:txBody>
      </p:sp>
      <p:sp>
        <p:nvSpPr>
          <p:cNvPr id="9" name="proof 3"/>
          <p:cNvSpPr/>
          <p:nvPr/>
        </p:nvSpPr>
        <p:spPr>
          <a:xfrm>
            <a:off x="6172200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languages live: Hinglish, English, Gujarati</a:t>
            </a:r>
            <a:endParaRPr lang="en-US" sz="1500" dirty="0"/>
          </a:p>
        </p:txBody>
      </p:sp>
      <p:sp>
        <p:nvSpPr>
          <p:cNvPr id="12" name="proof 4"/>
          <p:cNvSpPr/>
          <p:nvPr/>
        </p:nvSpPr>
        <p:spPr>
          <a:xfrm>
            <a:off x="8983980" y="1554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1258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140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21258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466"/>
                </a:solidFill>
              </a:rPr>
              <a:t>findings mined from real calls</a:t>
            </a:r>
            <a:endParaRPr lang="en-US" sz="1500" dirty="0"/>
          </a:p>
        </p:txBody>
      </p:sp>
      <p:sp>
        <p:nvSpPr>
          <p:cNvPr id="15" name="found card"/>
          <p:cNvSpPr/>
          <p:nvPr/>
        </p:nvSpPr>
        <p:spPr>
          <a:xfrm>
            <a:off x="548640" y="397764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testing caught and fixed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 frustrated "theek hai, kal 11 baje" was being booked: now never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"11 baje nahi, 5 baje karte hain" booked 11 AM: now 5 PM, the seller's time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Seller switched language, the LLM kept the old one: the switch now always wins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this means for IndiaMART</a:t>
            </a:r>
            <a:endParaRPr lang="en-US" sz="3400" dirty="0"/>
          </a:p>
        </p:txBody>
      </p:sp>
      <p:sp>
        <p:nvSpPr>
          <p:cNvPr id="3" name="impact card"/>
          <p:cNvSpPr/>
          <p:nvPr/>
        </p:nvSpPr>
        <p:spPr>
          <a:xfrm>
            <a:off x="548640" y="146304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More first calls turn into journeys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Fewer calls lost in the first 20 seconds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Busy and confused sellers handled, not lost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Meetings that sellers actually keep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466"/>
                </a:solidFill>
              </a:rPr>
              <a:t>Trust: honest, respectful, in the seller's language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Measure it: A/B test against today's bot on meeting rate and early drops.</a:t>
            </a:r>
            <a:endParaRPr lang="en-US" sz="1400" dirty="0"/>
          </a:p>
        </p:txBody>
      </p:sp>
      <p:sp>
        <p:nvSpPr>
          <p:cNvPr id="7" name="next card"/>
          <p:cNvSpPr/>
          <p:nvPr/>
        </p:nvSpPr>
        <p:spPr>
          <a:xfrm>
            <a:off x="6400800" y="146304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1C2F7A"/>
          </a:solidFill>
          <a:ln w="12700">
            <a:solidFill>
              <a:srgbClr val="1C2F7A"/>
            </a:solidFill>
            <a:prstDash val="solid"/>
          </a:ln>
          <a:effectLst>
            <a:outerShdw sx="100000" sy="100000" kx="0" ky="0" algn="bl" rotWithShape="0" blurRad="76200" dist="25400" dir="5400000">
              <a:srgbClr val="1C2F7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9" name="next 1 circle"/>
          <p:cNvSpPr/>
          <p:nvPr/>
        </p:nvSpPr>
        <p:spPr>
          <a:xfrm>
            <a:off x="6675120" y="2286000"/>
            <a:ext cx="594360" cy="594360"/>
          </a:xfrm>
          <a:prstGeom prst="ellipse">
            <a:avLst/>
          </a:prstGeom>
          <a:solidFill>
            <a:srgbClr val="D3222A"/>
          </a:solidFill>
          <a:ln w="12700">
            <a:solidFill>
              <a:srgbClr val="D3222A"/>
            </a:solidFill>
            <a:prstDash val="solid"/>
          </a:ln>
        </p:spPr>
      </p:sp>
      <p:pic>
        <p:nvPicPr>
          <p:cNvPr id="10" name="nex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710" y="2434590"/>
            <a:ext cx="297180" cy="2971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452360" y="2286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Senior callbacks straight into the CRM</a:t>
            </a:r>
            <a:endParaRPr lang="en-US" sz="1500" dirty="0"/>
          </a:p>
        </p:txBody>
      </p:sp>
      <p:sp>
        <p:nvSpPr>
          <p:cNvPr id="12" name="next 2 circle"/>
          <p:cNvSpPr/>
          <p:nvPr/>
        </p:nvSpPr>
        <p:spPr>
          <a:xfrm>
            <a:off x="6675120" y="3154680"/>
            <a:ext cx="594360" cy="594360"/>
          </a:xfrm>
          <a:prstGeom prst="ellipse">
            <a:avLst/>
          </a:prstGeom>
          <a:solidFill>
            <a:srgbClr val="F29D1F"/>
          </a:solidFill>
          <a:ln w="12700">
            <a:solidFill>
              <a:srgbClr val="F29D1F"/>
            </a:solidFill>
            <a:prstDash val="solid"/>
          </a:ln>
        </p:spPr>
      </p:sp>
      <p:pic>
        <p:nvPicPr>
          <p:cNvPr id="13" name="nex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0" y="33032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Learn from VANI's own calls, next call starts smarter</a:t>
            </a:r>
            <a:endParaRPr lang="en-US" sz="1500" dirty="0"/>
          </a:p>
        </p:txBody>
      </p:sp>
      <p:sp>
        <p:nvSpPr>
          <p:cNvPr id="15" name="next 3 circle"/>
          <p:cNvSpPr/>
          <p:nvPr/>
        </p:nvSpPr>
        <p:spPr>
          <a:xfrm>
            <a:off x="6675120" y="4023360"/>
            <a:ext cx="594360" cy="594360"/>
          </a:xfrm>
          <a:prstGeom prst="ellipse">
            <a:avLst/>
          </a:prstGeom>
          <a:solidFill>
            <a:srgbClr val="1798C7"/>
          </a:solidFill>
          <a:ln w="12700">
            <a:solidFill>
              <a:srgbClr val="1798C7"/>
            </a:solidFill>
            <a:prstDash val="solid"/>
          </a:ln>
        </p:spPr>
      </p:sp>
      <p:pic>
        <p:nvPicPr>
          <p:cNvPr id="16" name="nex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41719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52360" y="4023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Native lines for Tamil, Marathi, Bengali</a:t>
            </a:r>
            <a:endParaRPr lang="en-US" sz="1500" dirty="0"/>
          </a:p>
        </p:txBody>
      </p:sp>
      <p:sp>
        <p:nvSpPr>
          <p:cNvPr id="18" name="next 4 circle"/>
          <p:cNvSpPr/>
          <p:nvPr/>
        </p:nvSpPr>
        <p:spPr>
          <a:xfrm>
            <a:off x="6675120" y="4892040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9" name="nex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5040630"/>
            <a:ext cx="297180" cy="2971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523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A/B test live against today's bot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0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IndiaMART: Your Growth Partner, at Every Stage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VANI makes the first call count.   More visibility  ·  More leads  ·  More sales  ·  A bigger tomorrow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aMART Growth">
  <a:themeElements>
    <a:clrScheme name="IndiaMART Growth">
      <a:dk1>
        <a:srgbClr val="1A1F36"/>
      </a:dk1>
      <a:lt1>
        <a:srgbClr val="FFFFFF"/>
      </a:lt1>
      <a:dk2>
        <a:srgbClr val="1C2F7A"/>
      </a:dk2>
      <a:lt2>
        <a:srgbClr val="EEF3FB"/>
      </a:lt2>
      <a:accent1>
        <a:srgbClr val="D3222A"/>
      </a:accent1>
      <a:accent2>
        <a:srgbClr val="2E9E5B"/>
      </a:accent2>
      <a:accent3>
        <a:srgbClr val="F29D1F"/>
      </a:accent3>
      <a:accent4>
        <a:srgbClr val="7B4FC9"/>
      </a:accent4>
      <a:accent5>
        <a:srgbClr val="1798C7"/>
      </a:accent5>
      <a:accent6>
        <a:srgbClr val="E04E8C"/>
      </a:accent6>
      <a:hlink>
        <a:srgbClr val="1C2F7A"/>
      </a:hlink>
      <a:folHlink>
        <a:srgbClr val="7B4FC9"/>
      </a:folHlink>
    </a:clrScheme>
    <a:fontScheme name="IndiaMART Growt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IndiaMART Voice AI Hackathon 2.0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VANI Persona Engine</dc:title>
  <dc:subject>PptxGenJS Presentation</dc:subject>
  <dc:creator>VANI Persona Engine team</dc:creator>
  <cp:lastModifiedBy>VANI Persona Engine team</cp:lastModifiedBy>
  <cp:revision>1</cp:revision>
  <dcterms:created xsi:type="dcterms:W3CDTF">2026-10-10T08:24:59Z</dcterms:created>
  <dcterms:modified xsi:type="dcterms:W3CDTF">2026-10-10T08:24:59Z</dcterms:modified>
</cp:coreProperties>
</file>